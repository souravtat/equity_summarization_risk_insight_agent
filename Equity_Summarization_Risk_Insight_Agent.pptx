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rav Tat" userId="7b23a029-705b-4505-a7c8-23dcb682f7a3" providerId="ADAL" clId="{BC5BD988-B2E1-5353-9132-66DD308D4FB8}"/>
    <pc:docChg chg="mod delSld">
      <pc:chgData name="Sourav Tat" userId="7b23a029-705b-4505-a7c8-23dcb682f7a3" providerId="ADAL" clId="{BC5BD988-B2E1-5353-9132-66DD308D4FB8}" dt="2026-07-08T15:39:43.386" v="1" actId="33475"/>
      <pc:docMkLst>
        <pc:docMk/>
      </pc:docMkLst>
      <pc:sldChg chg="del">
        <pc:chgData name="Sourav Tat" userId="7b23a029-705b-4505-a7c8-23dcb682f7a3" providerId="ADAL" clId="{BC5BD988-B2E1-5353-9132-66DD308D4FB8}" dt="2026-07-08T15:39:35.829" v="0" actId="2696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09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060/doc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souravtat/Equity_Summarization_Risk_Insight_Agen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ravtat/Equity_Summarization_Risk_Insight_Agent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uravtat/Equity_Summarization_Risk_Insight_Agen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570821"/>
            <a:ext cx="11291888" cy="1701105"/>
          </a:xfrm>
          <a:prstGeom prst="rect">
            <a:avLst/>
          </a:prstGeom>
          <a:noFill/>
          <a:ln/>
        </p:spPr>
        <p:txBody>
          <a:bodyPr wrap="square" lIns="0" tIns="0" rIns="0" bIns="182309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78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Equity Filings Summarization &amp; Risk Insight Agent</a:t>
            </a:r>
            <a:endParaRPr lang="en-US" sz="4785" dirty="0"/>
          </a:p>
        </p:txBody>
      </p:sp>
      <p:sp>
        <p:nvSpPr>
          <p:cNvPr id="3" name="Text 1"/>
          <p:cNvSpPr/>
          <p:nvPr/>
        </p:nvSpPr>
        <p:spPr>
          <a:xfrm>
            <a:off x="747713" y="3659951"/>
            <a:ext cx="11291888" cy="379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2392" b="1" dirty="0">
                <a:solidFill>
                  <a:srgbClr val="A8C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Capstone Project — Generative AI &amp; Agentic AI Development</a:t>
            </a:r>
            <a:endParaRPr lang="en-US" sz="2392" dirty="0"/>
          </a:p>
        </p:txBody>
      </p:sp>
      <p:sp>
        <p:nvSpPr>
          <p:cNvPr id="4" name="Text 2"/>
          <p:cNvSpPr/>
          <p:nvPr/>
        </p:nvSpPr>
        <p:spPr>
          <a:xfrm>
            <a:off x="747713" y="4161086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Sourav Tat</a:t>
            </a:r>
            <a:endParaRPr lang="en-US" sz="2175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175" dirty="0">
                <a:solidFill>
                  <a:srgbClr val="A8C8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github.com/souravtat/Equity_Summarization_Risk_Insight_Agent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1139041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723579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806922"/>
            <a:ext cx="10696575" cy="3867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Context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Pipeline Design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 Engine (Highlights, Risks, Tone)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4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&amp; Risk Agent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5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Results &amp; Error Analysis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6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Sample Output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7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Checklist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8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&amp; PDF Swap Path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883057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Context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467594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550938"/>
            <a:ext cx="10696575" cy="186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Equity analysts spend </a:t>
            </a: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reading 10-K/10-Q filings (50-200 pages)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extraction of highlights, risks, and tone is </a:t>
            </a: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 and inconsistent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 a compact agent that produces grounded, analyst-style summaries in seconds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3498800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Approach: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4065538"/>
            <a:ext cx="10696575" cy="186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on a </a:t>
            </a: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synthetic corpus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15 filings (5 companies x 3 years)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filing has 5 sections: Business, Results, Risk Factors, Liquidity, Outlook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LangChain-compatible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loader interface — swap to real PDFs without changing the pipeline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61613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Pipeline Design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346150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498550"/>
            <a:ext cx="10696575" cy="4552950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filing.md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loader.py ──── section documents ────&gt; chunker.py ──── chunks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          |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┌────────────────────────────────────┤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|                                    |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v                                    v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llm_client.py                    retriever.py (FAISS)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(Groq API)                       sentiment_risk.py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|                                    |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└──────────────┬─────────────────────┘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v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summarize.py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{highlights, risks, tone}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|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v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server.py (FastAPI)</a:t>
            </a:r>
            <a:endParaRPr lang="en-US" sz="1494" dirty="0"/>
          </a:p>
          <a:p>
            <a:pPr marL="0" indent="0">
              <a:buNone/>
            </a:pPr>
            <a:r>
              <a:rPr lang="en-US" sz="149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POST /summarize -&gt; JSON</a:t>
            </a:r>
            <a:endParaRPr lang="en-US" sz="149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Dual Path Design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Path (preferred):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1937445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filing text to Groq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llama-3.1-8b-instant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JSON response with highlights, risks, tone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fallback when API key is absent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3470970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Lexicon + FAISS Fallback (offline):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4037707"/>
            <a:ext cx="10696575" cy="227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first sentences from Business/Results sections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FAISS semantic search on bag-of-words vectors (cosine similarity via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Tone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lexicon word counts + financial metric anchors (revenue growth %, gross margin %, cash)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807494"/>
            <a:ext cx="11291888" cy="1070372"/>
          </a:xfrm>
          <a:prstGeom prst="rect">
            <a:avLst/>
          </a:prstGeom>
          <a:noFill/>
          <a:ln/>
        </p:spPr>
        <p:txBody>
          <a:bodyPr wrap="square" lIns="0" tIns="0" rIns="0" bIns="207169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543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Components Deep Dive</a:t>
            </a:r>
            <a:endParaRPr lang="en-US" sz="543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Summarization Output Format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Highlights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(exactly 2 bullets):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1937445"/>
            <a:ext cx="10696575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business facts from Business/Results sections + section citation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2504182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(2-3 bullets):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3070920"/>
            <a:ext cx="10696575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risk snippets retrieved via FAISS semantic search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De-duplicated across sections, each with section citation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747713" y="4121051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Tone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 word):</a:t>
            </a:r>
            <a:endParaRPr lang="en-US" sz="2175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4756845"/>
          <a:ext cx="7650956" cy="1584452"/>
        </p:xfrm>
        <a:graphic>
          <a:graphicData uri="http://schemas.openxmlformats.org/drawingml/2006/table">
            <a:tbl>
              <a:tblPr/>
              <a:tblGrid>
                <a:gridCol w="1450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0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Tone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Criteria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positive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growth &gt;= 15% AND gross margin &gt;= 75%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cautious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&gt;= 3 material risks OR margin &lt; 65% OR growth &lt; 8%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neutral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Mixed signals / everything in between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985451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 Output — HLSR-2024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569988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722388"/>
            <a:ext cx="10696575" cy="4105275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46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"filing_id"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"HLSR-2024"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46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"highlights"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"HLSR provides enterprise software and services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with subscriptions and support revenue streams. (Business)"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"Revenue grew 12% with gross margin 77%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driven by cloud migrations and AI analytics. (Results)"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46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"risks"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"Cybersecurity incidents could result in penalties. (Risk Factors)"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"Management expects cautious macro conditions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and continued AI investments. (Outlook)"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"Cash: $688M. (Liquidity)"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46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"tone"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"neutral"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46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"source"</a:t>
            </a: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46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"lexicon"</a:t>
            </a:r>
            <a:endParaRPr lang="en-US" sz="1446" dirty="0"/>
          </a:p>
          <a:p>
            <a:pPr marL="0" indent="0">
              <a:buNone/>
            </a:pPr>
            <a:r>
              <a:rPr lang="en-US" sz="1446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4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&amp; Risk Scoring Engine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Lexicon Scorer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sentiment_risk.py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1937445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positive words (grew, strong, profit, milestone...)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negative words (risk, breach, penalties, decline...)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uncertainty words (may, could, uncertain, potentially...)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3470970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Metric Anchors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(regex extraction):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4037707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% → strong positive if &gt;= 20%, negative if &lt; 7%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margin % → positive if &gt;= 82%, strong negative if &lt; 60%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position → positive if &gt;= $700M, negative if &lt; $300M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747713" y="5571232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FAISS Retriever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retriever.py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747713" y="6137970"/>
            <a:ext cx="1069657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Bag-of-words vectors, L2-normalised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IndexFlatIP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(inner product = cosine on unit vectors)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Ranks chunks by relevance to risk keywords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802987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Results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387525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578144"/>
            <a:ext cx="11291888" cy="379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392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Metrics (Lexicon Mode, 15 Filings)</a:t>
            </a:r>
            <a:endParaRPr lang="en-US" sz="2392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2148334"/>
          <a:ext cx="9181148" cy="1584452"/>
        </p:xfrm>
        <a:graphic>
          <a:graphicData uri="http://schemas.openxmlformats.org/drawingml/2006/table">
            <a:tbl>
              <a:tblPr/>
              <a:tblGrid>
                <a:gridCol w="2680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0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Measures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 Groundedness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1.00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Token-recall of summary words in source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Sentiment Accuracy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53%</a:t>
                      </a: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(8/15)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Predicted tone vs. gold labels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Coherence Pass Rate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(15/15)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Structural validity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47713" y="4145607"/>
            <a:ext cx="10696575" cy="1864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Groundedness 1.00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 summary word is traceable to source (no hallucination)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Coherence 100%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all outputs have exactly 2 highlights, 1-3 risks, valid tone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 53%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7 systematic mismatches (analyzed next slide)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Analysis — Sentiment Mismatches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1 — Low-growth override (4 cases):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1937445"/>
            <a:ext cx="10696575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growth &lt; 12% triggers negative adjustment, overriding strong margins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E.g., NEOV-2022: growth 6%, margin 84% → predicted cautious, gold positive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2987576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2 — Risk-count blindness (3 cases):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3554313"/>
            <a:ext cx="10696575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filings share 5 identical risk bullets; lexicon counts risk </a:t>
            </a:r>
            <a:r>
              <a:rPr lang="en-US" sz="2175" i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words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not discrete items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E.g., ACMR-2023: growth 20%, margin 84% → predicted positive, gold neutral</a:t>
            </a:r>
            <a:endParaRPr lang="en-US" sz="217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4673501"/>
          <a:ext cx="5730716" cy="1584452"/>
        </p:xfrm>
        <a:graphic>
          <a:graphicData uri="http://schemas.openxmlformats.org/drawingml/2006/table">
            <a:tbl>
              <a:tblPr/>
              <a:tblGrid>
                <a:gridCol w="2160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Gold \ Predicted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neutral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cautious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neutral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b="1" dirty="0">
                          <a:solidFill>
                            <a:srgbClr val="0D1B3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cautious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&amp; API Endpoints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2006501"/>
            <a:ext cx="10696575" cy="990600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17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     → {"status": "ok"}</a:t>
            </a:r>
            <a:endParaRPr lang="en-US" sz="1174" dirty="0"/>
          </a:p>
          <a:p>
            <a:pPr marL="0" indent="0">
              <a:buNone/>
            </a:pPr>
            <a:r>
              <a:rPr lang="en-US" sz="117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/filings    → list of 15 filing IDs</a:t>
            </a:r>
            <a:endParaRPr lang="en-US" sz="1174" dirty="0"/>
          </a:p>
          <a:p>
            <a:pPr marL="0" indent="0">
              <a:buNone/>
            </a:pPr>
            <a:r>
              <a:rPr lang="en-US" sz="1174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/summarize  → analyst report (highlights, risks, tone)</a:t>
            </a:r>
            <a:endParaRPr lang="en-US" sz="1174" dirty="0"/>
          </a:p>
        </p:txBody>
      </p:sp>
      <p:sp>
        <p:nvSpPr>
          <p:cNvPr id="6" name="Text 4"/>
          <p:cNvSpPr/>
          <p:nvPr/>
        </p:nvSpPr>
        <p:spPr>
          <a:xfrm>
            <a:off x="747713" y="3080445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locally: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3716238"/>
            <a:ext cx="10696575" cy="1438275"/>
          </a:xfrm>
          <a:prstGeom prst="rect">
            <a:avLst/>
          </a:prstGeom>
          <a:solidFill>
            <a:srgbClr val="F6F8FA"/>
          </a:solidFill>
          <a:ln/>
        </p:spPr>
        <p:txBody>
          <a:bodyPr wrap="none" lIns="0" tIns="0" rIns="0" bIns="0" rtlCol="0" anchor="t"/>
          <a:lstStyle/>
          <a:p>
            <a:pPr marL="0" indent="0">
              <a:buNone/>
            </a:pP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</a:t>
            </a:r>
            <a:r>
              <a:rPr lang="en-US" sz="1293" dirty="0">
                <a:solidFill>
                  <a:srgbClr val="953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</a:t>
            </a:r>
            <a:endParaRPr lang="en-US" sz="1293" dirty="0"/>
          </a:p>
          <a:p>
            <a:pPr marL="0" indent="0">
              <a:buNone/>
            </a:pP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uvicorn app.server:app --port 9060 --reload</a:t>
            </a:r>
            <a:endParaRPr lang="en-US" sz="1293" dirty="0"/>
          </a:p>
          <a:p>
            <a:pPr marL="0" indent="0">
              <a:buNone/>
            </a:pP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http://localhost:9060/summarize \</a:t>
            </a:r>
            <a:endParaRPr lang="en-US" sz="1293" dirty="0"/>
          </a:p>
          <a:p>
            <a:pPr marL="0" indent="0">
              <a:buNone/>
            </a:pP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-H </a:t>
            </a:r>
            <a:r>
              <a:rPr lang="en-US" sz="1293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 application/json"</a:t>
            </a: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293" dirty="0"/>
          </a:p>
          <a:p>
            <a:pPr marL="0" indent="0">
              <a:buNone/>
            </a:pPr>
            <a:r>
              <a:rPr lang="en-US" sz="1293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-d </a:t>
            </a:r>
            <a:r>
              <a:rPr lang="en-US" sz="1293" dirty="0">
                <a:solidFill>
                  <a:srgbClr val="0A30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'{"filing_id": "HLSR-2024"}'</a:t>
            </a:r>
            <a:endParaRPr lang="en-US" sz="1293" dirty="0"/>
          </a:p>
        </p:txBody>
      </p:sp>
      <p:sp>
        <p:nvSpPr>
          <p:cNvPr id="8" name="Text 6"/>
          <p:cNvSpPr/>
          <p:nvPr/>
        </p:nvSpPr>
        <p:spPr>
          <a:xfrm>
            <a:off x="747713" y="5237857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API docs: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75" u="sng" dirty="0">
                <a:solidFill>
                  <a:srgbClr val="096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http://localhost:9060/docs</a:t>
            </a:r>
            <a:endParaRPr lang="en-US" sz="2175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Repo: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75" u="sng" dirty="0">
                <a:solidFill>
                  <a:srgbClr val="096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https://github.com/souravtat/Equity_Summarization_Risk_Insight_Agent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800160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 — All Complete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384697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713" y="1537097"/>
          <a:ext cx="8541068" cy="2772791"/>
        </p:xfrm>
        <a:graphic>
          <a:graphicData uri="http://schemas.openxmlformats.org/drawingml/2006/table">
            <a:tbl>
              <a:tblPr/>
              <a:tblGrid>
                <a:gridCol w="410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0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0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49" b="1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Working API (</a:t>
                      </a: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/summarize</a:t>
                      </a: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app/server.py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Notebook runner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notebooks/agent.ipynb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Sample outputs (JSON)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evaluation/sample_summary.json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Evaluation note (1-2 pages)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evaluation/EVALUATION_NOTE.md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README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highlight>
                            <a:srgbClr val="F0F4F8"/>
                          </a:highlight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49" dirty="0">
                          <a:solidFill>
                            <a:srgbClr val="1A1A2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RUNBOOK (PDF swap guide)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71" dirty="0">
                          <a:solidFill>
                            <a:srgbClr val="0D1B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RUNBOOK.md</a:t>
                      </a:r>
                      <a:endParaRPr lang="en-US" sz="1200" dirty="0"/>
                    </a:p>
                  </a:txBody>
                  <a:tcPr marL="123825" marR="123825" marT="57150" marB="57150">
                    <a:lnL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7713" y="4962674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Bonus: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46 unit tests, standalone debug runner,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GETTING_STARTED.md</a:t>
            </a:r>
            <a:endParaRPr lang="en-US" sz="2175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Repo: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75" u="sng" dirty="0">
                <a:solidFill>
                  <a:srgbClr val="096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https://github.com/souravtat/Equity_Summarization_Risk_Insight_Agent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702826"/>
            <a:ext cx="11291888" cy="539651"/>
          </a:xfrm>
          <a:prstGeom prst="rect">
            <a:avLst/>
          </a:prstGeom>
          <a:noFill/>
          <a:ln/>
        </p:spPr>
        <p:txBody>
          <a:bodyPr wrap="square" lIns="0" tIns="0" rIns="0" bIns="71819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2828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Work &amp; Production Path</a:t>
            </a:r>
            <a:endParaRPr lang="en-US" sz="2828" dirty="0"/>
          </a:p>
        </p:txBody>
      </p:sp>
      <p:sp>
        <p:nvSpPr>
          <p:cNvPr id="3" name="Shape 1"/>
          <p:cNvSpPr/>
          <p:nvPr/>
        </p:nvSpPr>
        <p:spPr>
          <a:xfrm>
            <a:off x="747713" y="1287363"/>
            <a:ext cx="10696575" cy="19050"/>
          </a:xfrm>
          <a:prstGeom prst="rect">
            <a:avLst/>
          </a:prstGeom>
          <a:solidFill>
            <a:srgbClr val="0D1B3E"/>
          </a:solidFill>
          <a:ln w="3175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47713" y="1370707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Short-term improvements:</a:t>
            </a:r>
            <a:endParaRPr lang="en-US" sz="2175" dirty="0"/>
          </a:p>
        </p:txBody>
      </p:sp>
      <p:sp>
        <p:nvSpPr>
          <p:cNvPr id="5" name="Text 3"/>
          <p:cNvSpPr/>
          <p:nvPr/>
        </p:nvSpPr>
        <p:spPr>
          <a:xfrm>
            <a:off x="747713" y="1937445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Adjust growth/margin thresholds to fix 4 of 7 sentiment mismatches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risk-bullet count as a classification feature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LLM mode (Groq) for ~80%+ sentiment accuracy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747713" y="3470970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path (documented in RUNBOOK.md):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747713" y="4037707"/>
            <a:ext cx="10696575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Swap to real PDFs —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 add langchain langchain-community pypdf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2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app/pdf_loader.py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adapter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Font typeface="+mj-lt"/>
              <a:buAutoNum type="arabicPeriod" startAt="3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one import in </a:t>
            </a:r>
            <a:r>
              <a:rPr lang="en-US" sz="1849" dirty="0">
                <a:solidFill>
                  <a:srgbClr val="0D1B3E"/>
                </a:solidFill>
                <a:highlight>
                  <a:srgbClr val="F0F4F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summarize.py</a:t>
            </a: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pipeline unchanged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747713" y="5571232"/>
            <a:ext cx="11231404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Longer-term: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747713" y="6137970"/>
            <a:ext cx="1069657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Dense embeddings (sentence-transformers) replacing bag-of-words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NLI-based groundedness (SummaC) for factual accuracy</a:t>
            </a:r>
            <a:endParaRPr lang="en-US" sz="2175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2175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integration for large corpora (persistent FAISS index)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713" y="2116485"/>
            <a:ext cx="11291888" cy="1284387"/>
          </a:xfrm>
          <a:prstGeom prst="rect">
            <a:avLst/>
          </a:prstGeom>
          <a:noFill/>
          <a:ln/>
        </p:spPr>
        <p:txBody>
          <a:bodyPr wrap="square" lIns="0" tIns="0" rIns="0" bIns="248603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6525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525" dirty="0"/>
          </a:p>
        </p:txBody>
      </p:sp>
      <p:sp>
        <p:nvSpPr>
          <p:cNvPr id="3" name="Text 1"/>
          <p:cNvSpPr/>
          <p:nvPr/>
        </p:nvSpPr>
        <p:spPr>
          <a:xfrm>
            <a:off x="747713" y="3587800"/>
            <a:ext cx="10696575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175" b="1" dirty="0">
                <a:solidFill>
                  <a:srgbClr val="0D1B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Sourav Tat</a:t>
            </a:r>
            <a:endParaRPr lang="en-US" sz="2175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175" u="sng" dirty="0">
                <a:solidFill>
                  <a:srgbClr val="0969DA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https://github.com/souravtat/Equity_Summarization_Risk_Insight_Agent</a:t>
            </a:r>
            <a:endParaRPr lang="en-US" sz="21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Macintosh PowerPoint</Application>
  <PresentationFormat>Widescreen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Sourav Tat</cp:lastModifiedBy>
  <cp:revision>1</cp:revision>
  <dcterms:created xsi:type="dcterms:W3CDTF">2026-07-08T15:38:01Z</dcterms:created>
  <dcterms:modified xsi:type="dcterms:W3CDTF">2026-07-08T15:39:43Z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44a753e-b937-4727-8173-58e965e4ef41_Enabled">
    <vt:lpwstr>true</vt:lpwstr>
  </property>
  <property fmtid="{D5CDD505-2E9C-101B-9397-08002B2CF9AE}" pid="3" name="MSIP_Label_444a753e-b937-4727-8173-58e965e4ef41_SetDate">
    <vt:lpwstr>2026-07-08T15:39:43Z</vt:lpwstr>
  </property>
  <property fmtid="{D5CDD505-2E9C-101B-9397-08002B2CF9AE}" pid="4" name="MSIP_Label_444a753e-b937-4727-8173-58e965e4ef41_Method">
    <vt:lpwstr>Standard</vt:lpwstr>
  </property>
  <property fmtid="{D5CDD505-2E9C-101B-9397-08002B2CF9AE}" pid="5" name="MSIP_Label_444a753e-b937-4727-8173-58e965e4ef41_Name">
    <vt:lpwstr>0a306a40-471c-426e-91d6-468476917b5e</vt:lpwstr>
  </property>
  <property fmtid="{D5CDD505-2E9C-101B-9397-08002B2CF9AE}" pid="6" name="MSIP_Label_444a753e-b937-4727-8173-58e965e4ef41_SiteId">
    <vt:lpwstr>3cbcc3d3-094d-4006-9849-0d11d61f484d</vt:lpwstr>
  </property>
  <property fmtid="{D5CDD505-2E9C-101B-9397-08002B2CF9AE}" pid="7" name="MSIP_Label_444a753e-b937-4727-8173-58e965e4ef41_ActionId">
    <vt:lpwstr>ac38c23d-c142-4d96-a78f-cda44f6fe5c3</vt:lpwstr>
  </property>
  <property fmtid="{D5CDD505-2E9C-101B-9397-08002B2CF9AE}" pid="8" name="MSIP_Label_444a753e-b937-4727-8173-58e965e4ef41_ContentBits">
    <vt:lpwstr>0</vt:lpwstr>
  </property>
  <property fmtid="{D5CDD505-2E9C-101B-9397-08002B2CF9AE}" pid="9" name="MSIP_Label_444a753e-b937-4727-8173-58e965e4ef41_Tag">
    <vt:lpwstr>50, 3, 0, 1</vt:lpwstr>
  </property>
</Properties>
</file>